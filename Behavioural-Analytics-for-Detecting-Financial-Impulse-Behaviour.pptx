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ora Bold" charset="1" panose="00000800000000000000"/>
      <p:regular r:id="rId19"/>
    </p:embeddedFont>
    <p:embeddedFont>
      <p:font typeface="Source Sans 3 Bold" charset="1" panose="020B0303030403020204"/>
      <p:regular r:id="rId20"/>
    </p:embeddedFont>
    <p:embeddedFont>
      <p:font typeface="Source Sans 3" charset="1" panose="020B0303030403020204"/>
      <p:regular r:id="rId21"/>
    </p:embeddedFont>
    <p:embeddedFont>
      <p:font typeface="Lora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905159" y="2693641"/>
            <a:ext cx="9335691" cy="2659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5500" b="true">
                <a:solidFill>
                  <a:srgbClr val="38512F"/>
                </a:solidFill>
                <a:latin typeface="Lora Bold"/>
                <a:ea typeface="Lora Bold"/>
                <a:cs typeface="Lora Bold"/>
                <a:sym typeface="Lora Bold"/>
              </a:rPr>
              <a:t>Behavioural Analytics for Detecting Financial Impulse Behaviour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05159" y="5706218"/>
            <a:ext cx="9335691" cy="5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sz="2312" b="true">
                <a:solidFill>
                  <a:srgbClr val="3A363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Presented By:</a:t>
            </a:r>
            <a:r>
              <a:rPr lang="en-US" sz="23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 ABISHEK.B - 22MIA1075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05159" y="6521501"/>
            <a:ext cx="9335691" cy="105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 b="true">
                <a:solidFill>
                  <a:srgbClr val="3A363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Predicting impulsive financial behaviour using behavioural analytics and machine learning.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9" y="2204742"/>
            <a:ext cx="7040613" cy="89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159" y="3607003"/>
            <a:ext cx="16193691" cy="105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Financial impulsive spending is a growing issue among young adults. Many purchases are driven by behavioural triggers such as emotional states, time of day, or temporary financial impulses rather than planned financial decisions.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159" y="4901060"/>
            <a:ext cx="16193691" cy="105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Traditional financial monitoring systems mainly focus on transaction values and credit risk, but they fail to capture behavioural patterns behind spending decisions.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159" y="6195117"/>
            <a:ext cx="16193691" cy="105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This project aims to develop a behavioural analytics system that detects impulsive spending patterns using transaction behaviour data and machine learning techniques.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159" y="7489184"/>
            <a:ext cx="16193691" cy="5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objective is to generate an Impulse Risk Score (0–100) that identifies high-risk impulsive financial behaviour.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27289" y="1201045"/>
            <a:ext cx="5446814" cy="70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425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Data &amp; Features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7289" y="2230488"/>
            <a:ext cx="15033422" cy="366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system uses a behavioural transaction dataset representing financial activities across multiple users.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7289" y="2856014"/>
            <a:ext cx="3022102" cy="349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25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Dataset Characteristics: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7289" y="3436439"/>
            <a:ext cx="15033422" cy="757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3348" indent="-136674" lvl="1">
              <a:lnSpc>
                <a:spcPts val="2562"/>
              </a:lnSpc>
              <a:buFont typeface="Arial"/>
              <a:buChar char="•"/>
            </a:pPr>
            <a:r>
              <a:rPr lang="en-US" sz="18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Number of users: ~100</a:t>
            </a:r>
          </a:p>
          <a:p>
            <a:pPr algn="l" marL="273348" indent="-136674" lvl="1">
              <a:lnSpc>
                <a:spcPts val="2562"/>
              </a:lnSpc>
              <a:buFont typeface="Arial"/>
              <a:buChar char="•"/>
            </a:pPr>
            <a:r>
              <a:rPr lang="en-US" sz="18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Total transactions: ~150,000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27289" y="4452937"/>
            <a:ext cx="4193972" cy="349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25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Key behavioural features include: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7289" y="5033372"/>
            <a:ext cx="15033422" cy="3494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3348" indent="-136674" lvl="1">
              <a:lnSpc>
                <a:spcPts val="2562"/>
              </a:lnSpc>
              <a:buFont typeface="Arial"/>
              <a:buChar char="•"/>
            </a:pPr>
            <a:r>
              <a:rPr lang="en-US" sz="18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Transaction Amount</a:t>
            </a:r>
          </a:p>
          <a:p>
            <a:pPr algn="l" marL="273348" indent="-136674" lvl="1">
              <a:lnSpc>
                <a:spcPts val="2562"/>
              </a:lnSpc>
              <a:buFont typeface="Arial"/>
              <a:buChar char="•"/>
            </a:pPr>
            <a:r>
              <a:rPr lang="en-US" sz="18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Transaction Timing (Hour of Day)</a:t>
            </a:r>
          </a:p>
          <a:p>
            <a:pPr algn="l" marL="273348" indent="-136674" lvl="1">
              <a:lnSpc>
                <a:spcPts val="2562"/>
              </a:lnSpc>
              <a:buFont typeface="Arial"/>
              <a:buChar char="•"/>
            </a:pPr>
            <a:r>
              <a:rPr lang="en-US" sz="18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Weekend / Weekday Indicator</a:t>
            </a:r>
          </a:p>
          <a:p>
            <a:pPr algn="l" marL="273348" indent="-136674" lvl="1">
              <a:lnSpc>
                <a:spcPts val="2562"/>
              </a:lnSpc>
              <a:buFont typeface="Arial"/>
              <a:buChar char="•"/>
            </a:pPr>
            <a:r>
              <a:rPr lang="en-US" sz="18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End-of-Month Indicator</a:t>
            </a:r>
          </a:p>
          <a:p>
            <a:pPr algn="l" marL="273348" indent="-136674" lvl="1">
              <a:lnSpc>
                <a:spcPts val="2562"/>
              </a:lnSpc>
              <a:buFont typeface="Arial"/>
              <a:buChar char="•"/>
            </a:pPr>
            <a:r>
              <a:rPr lang="en-US" sz="18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Rolling Spending Window</a:t>
            </a:r>
          </a:p>
          <a:p>
            <a:pPr algn="l" marL="273348" indent="-136674" lvl="1">
              <a:lnSpc>
                <a:spcPts val="2562"/>
              </a:lnSpc>
              <a:buFont typeface="Arial"/>
              <a:buChar char="•"/>
            </a:pPr>
            <a:r>
              <a:rPr lang="en-US" sz="18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Spending Deviation Score</a:t>
            </a:r>
          </a:p>
          <a:p>
            <a:pPr algn="l" marL="273348" indent="-136674" lvl="1">
              <a:lnSpc>
                <a:spcPts val="2562"/>
              </a:lnSpc>
              <a:buFont typeface="Arial"/>
              <a:buChar char="•"/>
            </a:pPr>
            <a:r>
              <a:rPr lang="en-US" sz="18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Transaction Frequency</a:t>
            </a:r>
          </a:p>
          <a:p>
            <a:pPr algn="l" marL="273348" indent="-136674" lvl="1">
              <a:lnSpc>
                <a:spcPts val="2562"/>
              </a:lnSpc>
              <a:buFont typeface="Arial"/>
              <a:buChar char="•"/>
            </a:pPr>
            <a:r>
              <a:rPr lang="en-US" sz="18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User Spending Baseline</a:t>
            </a:r>
          </a:p>
          <a:p>
            <a:pPr algn="l" marL="273348" indent="-136674" lvl="1">
              <a:lnSpc>
                <a:spcPts val="2562"/>
              </a:lnSpc>
              <a:buFont typeface="Arial"/>
              <a:buChar char="•"/>
            </a:pPr>
            <a:r>
              <a:rPr lang="en-US" sz="18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Category Diversity Indicator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27289" y="8690820"/>
            <a:ext cx="15033422" cy="366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These features allow the model to detect behavioural patterns rather than isolated transactions.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456" y="1274416"/>
            <a:ext cx="6611988" cy="85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187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Feature Engineering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3456" y="2590505"/>
            <a:ext cx="16321088" cy="502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87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Several behavioural indicators were engineered from raw transaction data.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64406" y="3370659"/>
            <a:ext cx="5302453" cy="2554929"/>
            <a:chOff x="0" y="0"/>
            <a:chExt cx="7069938" cy="34065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25400"/>
              <a:ext cx="7019163" cy="3355848"/>
            </a:xfrm>
            <a:custGeom>
              <a:avLst/>
              <a:gdLst/>
              <a:ahLst/>
              <a:cxnLst/>
              <a:rect r="r" b="b" t="t" l="l"/>
              <a:pathLst>
                <a:path h="3355848" w="7019163">
                  <a:moveTo>
                    <a:pt x="0" y="243840"/>
                  </a:moveTo>
                  <a:cubicBezTo>
                    <a:pt x="0" y="109220"/>
                    <a:pt x="109982" y="0"/>
                    <a:pt x="245745" y="0"/>
                  </a:cubicBezTo>
                  <a:lnTo>
                    <a:pt x="6773418" y="0"/>
                  </a:lnTo>
                  <a:cubicBezTo>
                    <a:pt x="6909181" y="0"/>
                    <a:pt x="7019163" y="109220"/>
                    <a:pt x="7019163" y="243840"/>
                  </a:cubicBezTo>
                  <a:lnTo>
                    <a:pt x="7019163" y="3112008"/>
                  </a:lnTo>
                  <a:cubicBezTo>
                    <a:pt x="7019163" y="3246628"/>
                    <a:pt x="6909181" y="3355848"/>
                    <a:pt x="6773418" y="3355848"/>
                  </a:cubicBezTo>
                  <a:lnTo>
                    <a:pt x="245745" y="3355848"/>
                  </a:lnTo>
                  <a:cubicBezTo>
                    <a:pt x="109982" y="3355848"/>
                    <a:pt x="0" y="3246628"/>
                    <a:pt x="0" y="3112008"/>
                  </a:cubicBezTo>
                  <a:close/>
                </a:path>
              </a:pathLst>
            </a:custGeom>
            <a:solidFill>
              <a:srgbClr val="FEF5E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69963" cy="3406648"/>
            </a:xfrm>
            <a:custGeom>
              <a:avLst/>
              <a:gdLst/>
              <a:ahLst/>
              <a:cxnLst/>
              <a:rect r="r" b="b" t="t" l="l"/>
              <a:pathLst>
                <a:path h="3406648" w="7069963">
                  <a:moveTo>
                    <a:pt x="0" y="269240"/>
                  </a:moveTo>
                  <a:cubicBezTo>
                    <a:pt x="0" y="120396"/>
                    <a:pt x="121539" y="0"/>
                    <a:pt x="271145" y="0"/>
                  </a:cubicBezTo>
                  <a:lnTo>
                    <a:pt x="6798818" y="0"/>
                  </a:lnTo>
                  <a:lnTo>
                    <a:pt x="6798818" y="25400"/>
                  </a:lnTo>
                  <a:lnTo>
                    <a:pt x="6798818" y="0"/>
                  </a:lnTo>
                  <a:cubicBezTo>
                    <a:pt x="6948425" y="0"/>
                    <a:pt x="7069963" y="120396"/>
                    <a:pt x="7069963" y="269240"/>
                  </a:cubicBezTo>
                  <a:lnTo>
                    <a:pt x="7044563" y="269240"/>
                  </a:lnTo>
                  <a:lnTo>
                    <a:pt x="7069963" y="269240"/>
                  </a:lnTo>
                  <a:lnTo>
                    <a:pt x="7069963" y="3137408"/>
                  </a:lnTo>
                  <a:lnTo>
                    <a:pt x="7044563" y="3137408"/>
                  </a:lnTo>
                  <a:lnTo>
                    <a:pt x="7069963" y="3137408"/>
                  </a:lnTo>
                  <a:cubicBezTo>
                    <a:pt x="7069963" y="3286252"/>
                    <a:pt x="6948425" y="3406648"/>
                    <a:pt x="6798818" y="3406648"/>
                  </a:cubicBezTo>
                  <a:lnTo>
                    <a:pt x="6798818" y="3381248"/>
                  </a:lnTo>
                  <a:lnTo>
                    <a:pt x="6798818" y="3406648"/>
                  </a:lnTo>
                  <a:lnTo>
                    <a:pt x="271145" y="3406648"/>
                  </a:lnTo>
                  <a:lnTo>
                    <a:pt x="271145" y="3381248"/>
                  </a:lnTo>
                  <a:lnTo>
                    <a:pt x="271145" y="3406648"/>
                  </a:lnTo>
                  <a:cubicBezTo>
                    <a:pt x="121539" y="3406521"/>
                    <a:pt x="0" y="3286252"/>
                    <a:pt x="0" y="313740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137408"/>
                  </a:lnTo>
                  <a:lnTo>
                    <a:pt x="25400" y="3137408"/>
                  </a:lnTo>
                  <a:lnTo>
                    <a:pt x="50800" y="3137408"/>
                  </a:lnTo>
                  <a:cubicBezTo>
                    <a:pt x="50800" y="3257804"/>
                    <a:pt x="149225" y="3355848"/>
                    <a:pt x="271145" y="3355848"/>
                  </a:cubicBezTo>
                  <a:lnTo>
                    <a:pt x="6798818" y="3355848"/>
                  </a:lnTo>
                  <a:cubicBezTo>
                    <a:pt x="6920738" y="3355848"/>
                    <a:pt x="7019163" y="3257804"/>
                    <a:pt x="7019163" y="3137408"/>
                  </a:cubicBezTo>
                  <a:lnTo>
                    <a:pt x="7019163" y="269240"/>
                  </a:lnTo>
                  <a:cubicBezTo>
                    <a:pt x="7019163" y="148844"/>
                    <a:pt x="6920738" y="50800"/>
                    <a:pt x="6798818" y="50800"/>
                  </a:cubicBezTo>
                  <a:lnTo>
                    <a:pt x="271145" y="50800"/>
                  </a:lnTo>
                  <a:lnTo>
                    <a:pt x="271145" y="25400"/>
                  </a:lnTo>
                  <a:lnTo>
                    <a:pt x="271145" y="50800"/>
                  </a:lnTo>
                  <a:cubicBezTo>
                    <a:pt x="149225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D9CDB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45356" y="3389709"/>
            <a:ext cx="152400" cy="2516829"/>
            <a:chOff x="0" y="0"/>
            <a:chExt cx="203200" cy="33557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3200" cy="3355848"/>
            </a:xfrm>
            <a:custGeom>
              <a:avLst/>
              <a:gdLst/>
              <a:ahLst/>
              <a:cxnLst/>
              <a:rect r="r" b="b" t="t" l="l"/>
              <a:pathLst>
                <a:path h="3355848" w="203200">
                  <a:moveTo>
                    <a:pt x="0" y="56261"/>
                  </a:moveTo>
                  <a:cubicBezTo>
                    <a:pt x="0" y="25146"/>
                    <a:pt x="25146" y="0"/>
                    <a:pt x="56261" y="0"/>
                  </a:cubicBezTo>
                  <a:lnTo>
                    <a:pt x="147066" y="0"/>
                  </a:lnTo>
                  <a:cubicBezTo>
                    <a:pt x="178054" y="0"/>
                    <a:pt x="203200" y="25146"/>
                    <a:pt x="203200" y="56261"/>
                  </a:cubicBezTo>
                  <a:lnTo>
                    <a:pt x="203200" y="3299587"/>
                  </a:lnTo>
                  <a:cubicBezTo>
                    <a:pt x="203200" y="3330575"/>
                    <a:pt x="178054" y="3355848"/>
                    <a:pt x="146939" y="3355848"/>
                  </a:cubicBezTo>
                  <a:lnTo>
                    <a:pt x="56261" y="3355848"/>
                  </a:lnTo>
                  <a:cubicBezTo>
                    <a:pt x="25273" y="3355848"/>
                    <a:pt x="0" y="3330702"/>
                    <a:pt x="0" y="3299587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16844" y="3689747"/>
            <a:ext cx="3950341" cy="432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Spending Deviation Score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16844" y="4213469"/>
            <a:ext cx="4511878" cy="1373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87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Measures how much a transaction deviates from a user’s normal spending behaviour.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492631" y="3370659"/>
            <a:ext cx="5302596" cy="2554929"/>
            <a:chOff x="0" y="0"/>
            <a:chExt cx="7070128" cy="34065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5400" y="25400"/>
              <a:ext cx="7019290" cy="3355848"/>
            </a:xfrm>
            <a:custGeom>
              <a:avLst/>
              <a:gdLst/>
              <a:ahLst/>
              <a:cxnLst/>
              <a:rect r="r" b="b" t="t" l="l"/>
              <a:pathLst>
                <a:path h="3355848" w="7019290">
                  <a:moveTo>
                    <a:pt x="0" y="243840"/>
                  </a:moveTo>
                  <a:cubicBezTo>
                    <a:pt x="0" y="109220"/>
                    <a:pt x="109982" y="0"/>
                    <a:pt x="245745" y="0"/>
                  </a:cubicBezTo>
                  <a:lnTo>
                    <a:pt x="6773545" y="0"/>
                  </a:lnTo>
                  <a:cubicBezTo>
                    <a:pt x="6909308" y="0"/>
                    <a:pt x="7019290" y="109220"/>
                    <a:pt x="7019290" y="243840"/>
                  </a:cubicBezTo>
                  <a:lnTo>
                    <a:pt x="7019290" y="3112008"/>
                  </a:lnTo>
                  <a:cubicBezTo>
                    <a:pt x="7019290" y="3246628"/>
                    <a:pt x="6909308" y="3355848"/>
                    <a:pt x="6773545" y="3355848"/>
                  </a:cubicBezTo>
                  <a:lnTo>
                    <a:pt x="245745" y="3355848"/>
                  </a:lnTo>
                  <a:cubicBezTo>
                    <a:pt x="109982" y="3355848"/>
                    <a:pt x="0" y="3246628"/>
                    <a:pt x="0" y="3112008"/>
                  </a:cubicBezTo>
                  <a:close/>
                </a:path>
              </a:pathLst>
            </a:custGeom>
            <a:solidFill>
              <a:srgbClr val="FEF5E7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70090" cy="3406648"/>
            </a:xfrm>
            <a:custGeom>
              <a:avLst/>
              <a:gdLst/>
              <a:ahLst/>
              <a:cxnLst/>
              <a:rect r="r" b="b" t="t" l="l"/>
              <a:pathLst>
                <a:path h="3406648" w="7070090">
                  <a:moveTo>
                    <a:pt x="0" y="269240"/>
                  </a:moveTo>
                  <a:cubicBezTo>
                    <a:pt x="0" y="120396"/>
                    <a:pt x="121539" y="0"/>
                    <a:pt x="271145" y="0"/>
                  </a:cubicBezTo>
                  <a:lnTo>
                    <a:pt x="6798945" y="0"/>
                  </a:lnTo>
                  <a:lnTo>
                    <a:pt x="6798945" y="25400"/>
                  </a:lnTo>
                  <a:lnTo>
                    <a:pt x="6798945" y="0"/>
                  </a:lnTo>
                  <a:cubicBezTo>
                    <a:pt x="6948551" y="0"/>
                    <a:pt x="7070090" y="120396"/>
                    <a:pt x="7070090" y="269240"/>
                  </a:cubicBezTo>
                  <a:lnTo>
                    <a:pt x="7044690" y="269240"/>
                  </a:lnTo>
                  <a:lnTo>
                    <a:pt x="7070090" y="269240"/>
                  </a:lnTo>
                  <a:lnTo>
                    <a:pt x="7070090" y="3137408"/>
                  </a:lnTo>
                  <a:lnTo>
                    <a:pt x="7044690" y="3137408"/>
                  </a:lnTo>
                  <a:lnTo>
                    <a:pt x="7070090" y="3137408"/>
                  </a:lnTo>
                  <a:cubicBezTo>
                    <a:pt x="7070090" y="3286252"/>
                    <a:pt x="6948551" y="3406648"/>
                    <a:pt x="6798945" y="3406648"/>
                  </a:cubicBezTo>
                  <a:lnTo>
                    <a:pt x="6798945" y="3381248"/>
                  </a:lnTo>
                  <a:lnTo>
                    <a:pt x="6798945" y="3406648"/>
                  </a:lnTo>
                  <a:lnTo>
                    <a:pt x="271145" y="3406648"/>
                  </a:lnTo>
                  <a:lnTo>
                    <a:pt x="271145" y="3381248"/>
                  </a:lnTo>
                  <a:lnTo>
                    <a:pt x="271145" y="3406648"/>
                  </a:lnTo>
                  <a:cubicBezTo>
                    <a:pt x="121539" y="3406521"/>
                    <a:pt x="0" y="3286252"/>
                    <a:pt x="0" y="313740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137408"/>
                  </a:lnTo>
                  <a:lnTo>
                    <a:pt x="25400" y="3137408"/>
                  </a:lnTo>
                  <a:lnTo>
                    <a:pt x="50800" y="3137408"/>
                  </a:lnTo>
                  <a:cubicBezTo>
                    <a:pt x="50800" y="3257804"/>
                    <a:pt x="149225" y="3355848"/>
                    <a:pt x="271145" y="3355848"/>
                  </a:cubicBezTo>
                  <a:lnTo>
                    <a:pt x="6798945" y="3355848"/>
                  </a:lnTo>
                  <a:cubicBezTo>
                    <a:pt x="6920865" y="3355848"/>
                    <a:pt x="7019290" y="3257804"/>
                    <a:pt x="7019290" y="3137408"/>
                  </a:cubicBezTo>
                  <a:lnTo>
                    <a:pt x="7019290" y="269240"/>
                  </a:lnTo>
                  <a:cubicBezTo>
                    <a:pt x="7019290" y="148844"/>
                    <a:pt x="6920865" y="50800"/>
                    <a:pt x="6798945" y="50800"/>
                  </a:cubicBezTo>
                  <a:lnTo>
                    <a:pt x="271145" y="50800"/>
                  </a:lnTo>
                  <a:lnTo>
                    <a:pt x="271145" y="25400"/>
                  </a:lnTo>
                  <a:lnTo>
                    <a:pt x="271145" y="50800"/>
                  </a:lnTo>
                  <a:cubicBezTo>
                    <a:pt x="149225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D9CDB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473581" y="3389709"/>
            <a:ext cx="152400" cy="2516829"/>
            <a:chOff x="0" y="0"/>
            <a:chExt cx="203200" cy="33557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3200" cy="3355848"/>
            </a:xfrm>
            <a:custGeom>
              <a:avLst/>
              <a:gdLst/>
              <a:ahLst/>
              <a:cxnLst/>
              <a:rect r="r" b="b" t="t" l="l"/>
              <a:pathLst>
                <a:path h="3355848" w="203200">
                  <a:moveTo>
                    <a:pt x="0" y="56261"/>
                  </a:moveTo>
                  <a:cubicBezTo>
                    <a:pt x="0" y="25146"/>
                    <a:pt x="25146" y="0"/>
                    <a:pt x="56261" y="0"/>
                  </a:cubicBezTo>
                  <a:lnTo>
                    <a:pt x="147066" y="0"/>
                  </a:lnTo>
                  <a:cubicBezTo>
                    <a:pt x="178054" y="0"/>
                    <a:pt x="203200" y="25146"/>
                    <a:pt x="203200" y="56261"/>
                  </a:cubicBezTo>
                  <a:lnTo>
                    <a:pt x="203200" y="3299587"/>
                  </a:lnTo>
                  <a:cubicBezTo>
                    <a:pt x="203200" y="3330575"/>
                    <a:pt x="178054" y="3355848"/>
                    <a:pt x="146939" y="3355848"/>
                  </a:cubicBezTo>
                  <a:lnTo>
                    <a:pt x="56261" y="3355848"/>
                  </a:lnTo>
                  <a:cubicBezTo>
                    <a:pt x="25273" y="3355848"/>
                    <a:pt x="0" y="3330702"/>
                    <a:pt x="0" y="3299587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945068" y="3689747"/>
            <a:ext cx="3932787" cy="432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Rolling Spending Window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45068" y="4213469"/>
            <a:ext cx="4512021" cy="1373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87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Captures short-term spending bursts that may indicate impulsive purchases.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020998" y="3370659"/>
            <a:ext cx="5302453" cy="2554929"/>
            <a:chOff x="0" y="0"/>
            <a:chExt cx="7069938" cy="340657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5400" y="25400"/>
              <a:ext cx="7019163" cy="3355848"/>
            </a:xfrm>
            <a:custGeom>
              <a:avLst/>
              <a:gdLst/>
              <a:ahLst/>
              <a:cxnLst/>
              <a:rect r="r" b="b" t="t" l="l"/>
              <a:pathLst>
                <a:path h="3355848" w="7019163">
                  <a:moveTo>
                    <a:pt x="0" y="243840"/>
                  </a:moveTo>
                  <a:cubicBezTo>
                    <a:pt x="0" y="109220"/>
                    <a:pt x="109982" y="0"/>
                    <a:pt x="245745" y="0"/>
                  </a:cubicBezTo>
                  <a:lnTo>
                    <a:pt x="6773418" y="0"/>
                  </a:lnTo>
                  <a:cubicBezTo>
                    <a:pt x="6909181" y="0"/>
                    <a:pt x="7019163" y="109220"/>
                    <a:pt x="7019163" y="243840"/>
                  </a:cubicBezTo>
                  <a:lnTo>
                    <a:pt x="7019163" y="3112008"/>
                  </a:lnTo>
                  <a:cubicBezTo>
                    <a:pt x="7019163" y="3246628"/>
                    <a:pt x="6909181" y="3355848"/>
                    <a:pt x="6773418" y="3355848"/>
                  </a:cubicBezTo>
                  <a:lnTo>
                    <a:pt x="245745" y="3355848"/>
                  </a:lnTo>
                  <a:cubicBezTo>
                    <a:pt x="109982" y="3355848"/>
                    <a:pt x="0" y="3246628"/>
                    <a:pt x="0" y="3112008"/>
                  </a:cubicBezTo>
                  <a:close/>
                </a:path>
              </a:pathLst>
            </a:custGeom>
            <a:solidFill>
              <a:srgbClr val="FEF5E7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69963" cy="3406648"/>
            </a:xfrm>
            <a:custGeom>
              <a:avLst/>
              <a:gdLst/>
              <a:ahLst/>
              <a:cxnLst/>
              <a:rect r="r" b="b" t="t" l="l"/>
              <a:pathLst>
                <a:path h="3406648" w="7069963">
                  <a:moveTo>
                    <a:pt x="0" y="269240"/>
                  </a:moveTo>
                  <a:cubicBezTo>
                    <a:pt x="0" y="120396"/>
                    <a:pt x="121539" y="0"/>
                    <a:pt x="271145" y="0"/>
                  </a:cubicBezTo>
                  <a:lnTo>
                    <a:pt x="6798818" y="0"/>
                  </a:lnTo>
                  <a:lnTo>
                    <a:pt x="6798818" y="25400"/>
                  </a:lnTo>
                  <a:lnTo>
                    <a:pt x="6798818" y="0"/>
                  </a:lnTo>
                  <a:cubicBezTo>
                    <a:pt x="6948425" y="0"/>
                    <a:pt x="7069963" y="120396"/>
                    <a:pt x="7069963" y="269240"/>
                  </a:cubicBezTo>
                  <a:lnTo>
                    <a:pt x="7044563" y="269240"/>
                  </a:lnTo>
                  <a:lnTo>
                    <a:pt x="7069963" y="269240"/>
                  </a:lnTo>
                  <a:lnTo>
                    <a:pt x="7069963" y="3137408"/>
                  </a:lnTo>
                  <a:lnTo>
                    <a:pt x="7044563" y="3137408"/>
                  </a:lnTo>
                  <a:lnTo>
                    <a:pt x="7069963" y="3137408"/>
                  </a:lnTo>
                  <a:cubicBezTo>
                    <a:pt x="7069963" y="3286252"/>
                    <a:pt x="6948425" y="3406648"/>
                    <a:pt x="6798818" y="3406648"/>
                  </a:cubicBezTo>
                  <a:lnTo>
                    <a:pt x="6798818" y="3381248"/>
                  </a:lnTo>
                  <a:lnTo>
                    <a:pt x="6798818" y="3406648"/>
                  </a:lnTo>
                  <a:lnTo>
                    <a:pt x="271145" y="3406648"/>
                  </a:lnTo>
                  <a:lnTo>
                    <a:pt x="271145" y="3381248"/>
                  </a:lnTo>
                  <a:lnTo>
                    <a:pt x="271145" y="3406648"/>
                  </a:lnTo>
                  <a:cubicBezTo>
                    <a:pt x="121539" y="3406521"/>
                    <a:pt x="0" y="3286252"/>
                    <a:pt x="0" y="313740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137408"/>
                  </a:lnTo>
                  <a:lnTo>
                    <a:pt x="25400" y="3137408"/>
                  </a:lnTo>
                  <a:lnTo>
                    <a:pt x="50800" y="3137408"/>
                  </a:lnTo>
                  <a:cubicBezTo>
                    <a:pt x="50800" y="3257804"/>
                    <a:pt x="149225" y="3355848"/>
                    <a:pt x="271145" y="3355848"/>
                  </a:cubicBezTo>
                  <a:lnTo>
                    <a:pt x="6798818" y="3355848"/>
                  </a:lnTo>
                  <a:cubicBezTo>
                    <a:pt x="6920738" y="3355848"/>
                    <a:pt x="7019163" y="3257804"/>
                    <a:pt x="7019163" y="3137408"/>
                  </a:cubicBezTo>
                  <a:lnTo>
                    <a:pt x="7019163" y="269240"/>
                  </a:lnTo>
                  <a:cubicBezTo>
                    <a:pt x="7019163" y="148844"/>
                    <a:pt x="6920738" y="50800"/>
                    <a:pt x="6798818" y="50800"/>
                  </a:cubicBezTo>
                  <a:lnTo>
                    <a:pt x="271145" y="50800"/>
                  </a:lnTo>
                  <a:lnTo>
                    <a:pt x="271145" y="25400"/>
                  </a:lnTo>
                  <a:lnTo>
                    <a:pt x="271145" y="50800"/>
                  </a:lnTo>
                  <a:cubicBezTo>
                    <a:pt x="149225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D9CDB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001948" y="3389709"/>
            <a:ext cx="152400" cy="2516829"/>
            <a:chOff x="0" y="0"/>
            <a:chExt cx="203200" cy="33557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3200" cy="3355848"/>
            </a:xfrm>
            <a:custGeom>
              <a:avLst/>
              <a:gdLst/>
              <a:ahLst/>
              <a:cxnLst/>
              <a:rect r="r" b="b" t="t" l="l"/>
              <a:pathLst>
                <a:path h="3355848" w="203200">
                  <a:moveTo>
                    <a:pt x="0" y="56261"/>
                  </a:moveTo>
                  <a:cubicBezTo>
                    <a:pt x="0" y="25146"/>
                    <a:pt x="25146" y="0"/>
                    <a:pt x="56261" y="0"/>
                  </a:cubicBezTo>
                  <a:lnTo>
                    <a:pt x="147066" y="0"/>
                  </a:lnTo>
                  <a:cubicBezTo>
                    <a:pt x="178054" y="0"/>
                    <a:pt x="203200" y="25146"/>
                    <a:pt x="203200" y="56261"/>
                  </a:cubicBezTo>
                  <a:lnTo>
                    <a:pt x="203200" y="3299587"/>
                  </a:lnTo>
                  <a:cubicBezTo>
                    <a:pt x="203200" y="3330575"/>
                    <a:pt x="178054" y="3355848"/>
                    <a:pt x="146939" y="3355848"/>
                  </a:cubicBezTo>
                  <a:lnTo>
                    <a:pt x="56261" y="3355848"/>
                  </a:lnTo>
                  <a:cubicBezTo>
                    <a:pt x="25273" y="3355848"/>
                    <a:pt x="0" y="3330702"/>
                    <a:pt x="0" y="3299587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473435" y="3689747"/>
            <a:ext cx="3529012" cy="432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Transaction Frequency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473435" y="4213469"/>
            <a:ext cx="4511878" cy="938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87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Detects rapid consecutive transactions.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64406" y="6151359"/>
            <a:ext cx="5302453" cy="2119160"/>
            <a:chOff x="0" y="0"/>
            <a:chExt cx="7069938" cy="282554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5400" y="25400"/>
              <a:ext cx="7019163" cy="2774696"/>
            </a:xfrm>
            <a:custGeom>
              <a:avLst/>
              <a:gdLst/>
              <a:ahLst/>
              <a:cxnLst/>
              <a:rect r="r" b="b" t="t" l="l"/>
              <a:pathLst>
                <a:path h="2774696" w="7019163">
                  <a:moveTo>
                    <a:pt x="0" y="243840"/>
                  </a:moveTo>
                  <a:cubicBezTo>
                    <a:pt x="0" y="109220"/>
                    <a:pt x="110363" y="0"/>
                    <a:pt x="246507" y="0"/>
                  </a:cubicBezTo>
                  <a:lnTo>
                    <a:pt x="6772656" y="0"/>
                  </a:lnTo>
                  <a:cubicBezTo>
                    <a:pt x="6908800" y="0"/>
                    <a:pt x="7019163" y="109220"/>
                    <a:pt x="7019163" y="243840"/>
                  </a:cubicBezTo>
                  <a:lnTo>
                    <a:pt x="7019163" y="2530856"/>
                  </a:lnTo>
                  <a:cubicBezTo>
                    <a:pt x="7019163" y="2665476"/>
                    <a:pt x="6908800" y="2774696"/>
                    <a:pt x="6772656" y="2774696"/>
                  </a:cubicBezTo>
                  <a:lnTo>
                    <a:pt x="246507" y="2774696"/>
                  </a:lnTo>
                  <a:cubicBezTo>
                    <a:pt x="110363" y="2774696"/>
                    <a:pt x="0" y="2665476"/>
                    <a:pt x="0" y="2530856"/>
                  </a:cubicBezTo>
                  <a:close/>
                </a:path>
              </a:pathLst>
            </a:custGeom>
            <a:solidFill>
              <a:srgbClr val="FEF5E7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69963" cy="2825496"/>
            </a:xfrm>
            <a:custGeom>
              <a:avLst/>
              <a:gdLst/>
              <a:ahLst/>
              <a:cxnLst/>
              <a:rect r="r" b="b" t="t" l="l"/>
              <a:pathLst>
                <a:path h="2825496" w="7069963">
                  <a:moveTo>
                    <a:pt x="0" y="269240"/>
                  </a:moveTo>
                  <a:cubicBezTo>
                    <a:pt x="0" y="120269"/>
                    <a:pt x="122047" y="0"/>
                    <a:pt x="271907" y="0"/>
                  </a:cubicBezTo>
                  <a:lnTo>
                    <a:pt x="6798056" y="0"/>
                  </a:lnTo>
                  <a:lnTo>
                    <a:pt x="6798056" y="25400"/>
                  </a:lnTo>
                  <a:lnTo>
                    <a:pt x="6798056" y="0"/>
                  </a:lnTo>
                  <a:cubicBezTo>
                    <a:pt x="6947916" y="0"/>
                    <a:pt x="7069963" y="120269"/>
                    <a:pt x="7069963" y="269240"/>
                  </a:cubicBezTo>
                  <a:lnTo>
                    <a:pt x="7044563" y="269240"/>
                  </a:lnTo>
                  <a:lnTo>
                    <a:pt x="7069963" y="269240"/>
                  </a:lnTo>
                  <a:lnTo>
                    <a:pt x="7069963" y="2556256"/>
                  </a:lnTo>
                  <a:lnTo>
                    <a:pt x="7044563" y="2556256"/>
                  </a:lnTo>
                  <a:lnTo>
                    <a:pt x="7069963" y="2556256"/>
                  </a:lnTo>
                  <a:cubicBezTo>
                    <a:pt x="7069963" y="2705227"/>
                    <a:pt x="6947916" y="2825496"/>
                    <a:pt x="6798056" y="2825496"/>
                  </a:cubicBezTo>
                  <a:lnTo>
                    <a:pt x="6798056" y="2800096"/>
                  </a:lnTo>
                  <a:lnTo>
                    <a:pt x="6798056" y="2825496"/>
                  </a:lnTo>
                  <a:lnTo>
                    <a:pt x="271907" y="2825496"/>
                  </a:lnTo>
                  <a:lnTo>
                    <a:pt x="271907" y="2800096"/>
                  </a:lnTo>
                  <a:lnTo>
                    <a:pt x="271907" y="2825496"/>
                  </a:lnTo>
                  <a:cubicBezTo>
                    <a:pt x="122047" y="2825496"/>
                    <a:pt x="0" y="2705227"/>
                    <a:pt x="0" y="2556256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556256"/>
                  </a:lnTo>
                  <a:lnTo>
                    <a:pt x="25400" y="2556256"/>
                  </a:lnTo>
                  <a:lnTo>
                    <a:pt x="50800" y="2556256"/>
                  </a:lnTo>
                  <a:cubicBezTo>
                    <a:pt x="50800" y="2676652"/>
                    <a:pt x="149479" y="2774696"/>
                    <a:pt x="271907" y="2774696"/>
                  </a:cubicBezTo>
                  <a:lnTo>
                    <a:pt x="6798056" y="2774696"/>
                  </a:lnTo>
                  <a:cubicBezTo>
                    <a:pt x="6920485" y="2774696"/>
                    <a:pt x="7019163" y="2676652"/>
                    <a:pt x="7019163" y="2556256"/>
                  </a:cubicBezTo>
                  <a:lnTo>
                    <a:pt x="7019163" y="269240"/>
                  </a:lnTo>
                  <a:cubicBezTo>
                    <a:pt x="7019163" y="148844"/>
                    <a:pt x="6920485" y="50800"/>
                    <a:pt x="6798056" y="50800"/>
                  </a:cubicBezTo>
                  <a:lnTo>
                    <a:pt x="271907" y="50800"/>
                  </a:lnTo>
                  <a:lnTo>
                    <a:pt x="271907" y="25400"/>
                  </a:lnTo>
                  <a:lnTo>
                    <a:pt x="271907" y="50800"/>
                  </a:lnTo>
                  <a:cubicBezTo>
                    <a:pt x="149479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D9CDB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45356" y="6170409"/>
            <a:ext cx="152400" cy="2081060"/>
            <a:chOff x="0" y="0"/>
            <a:chExt cx="203200" cy="277474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3200" cy="2774823"/>
            </a:xfrm>
            <a:custGeom>
              <a:avLst/>
              <a:gdLst/>
              <a:ahLst/>
              <a:cxnLst/>
              <a:rect r="r" b="b" t="t" l="l"/>
              <a:pathLst>
                <a:path h="2774823" w="203200">
                  <a:moveTo>
                    <a:pt x="0" y="56261"/>
                  </a:moveTo>
                  <a:cubicBezTo>
                    <a:pt x="0" y="25146"/>
                    <a:pt x="25146" y="0"/>
                    <a:pt x="56261" y="0"/>
                  </a:cubicBezTo>
                  <a:lnTo>
                    <a:pt x="147066" y="0"/>
                  </a:lnTo>
                  <a:cubicBezTo>
                    <a:pt x="178054" y="0"/>
                    <a:pt x="203200" y="25146"/>
                    <a:pt x="203200" y="56261"/>
                  </a:cubicBezTo>
                  <a:lnTo>
                    <a:pt x="203200" y="2718562"/>
                  </a:lnTo>
                  <a:cubicBezTo>
                    <a:pt x="203200" y="2749550"/>
                    <a:pt x="178054" y="2774823"/>
                    <a:pt x="146939" y="2774823"/>
                  </a:cubicBezTo>
                  <a:lnTo>
                    <a:pt x="56261" y="2774823"/>
                  </a:lnTo>
                  <a:cubicBezTo>
                    <a:pt x="25273" y="2774823"/>
                    <a:pt x="0" y="2749677"/>
                    <a:pt x="0" y="2718562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416844" y="6470447"/>
            <a:ext cx="4206326" cy="432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Personal Spending Baseline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16844" y="6994179"/>
            <a:ext cx="4511878" cy="938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87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Compares each transaction against the user’s typical spending behaviour.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492631" y="6151359"/>
            <a:ext cx="5302596" cy="2119160"/>
            <a:chOff x="0" y="0"/>
            <a:chExt cx="7070128" cy="282554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25400" y="25400"/>
              <a:ext cx="7019289" cy="2774696"/>
            </a:xfrm>
            <a:custGeom>
              <a:avLst/>
              <a:gdLst/>
              <a:ahLst/>
              <a:cxnLst/>
              <a:rect r="r" b="b" t="t" l="l"/>
              <a:pathLst>
                <a:path h="2774696" w="7019289">
                  <a:moveTo>
                    <a:pt x="0" y="243840"/>
                  </a:moveTo>
                  <a:cubicBezTo>
                    <a:pt x="0" y="109220"/>
                    <a:pt x="110363" y="0"/>
                    <a:pt x="246507" y="0"/>
                  </a:cubicBezTo>
                  <a:lnTo>
                    <a:pt x="6772783" y="0"/>
                  </a:lnTo>
                  <a:cubicBezTo>
                    <a:pt x="6908926" y="0"/>
                    <a:pt x="7019289" y="109220"/>
                    <a:pt x="7019289" y="243840"/>
                  </a:cubicBezTo>
                  <a:lnTo>
                    <a:pt x="7019289" y="2530856"/>
                  </a:lnTo>
                  <a:cubicBezTo>
                    <a:pt x="7019289" y="2665476"/>
                    <a:pt x="6908926" y="2774696"/>
                    <a:pt x="6772783" y="2774696"/>
                  </a:cubicBezTo>
                  <a:lnTo>
                    <a:pt x="246507" y="2774696"/>
                  </a:lnTo>
                  <a:cubicBezTo>
                    <a:pt x="110363" y="2774696"/>
                    <a:pt x="0" y="2665476"/>
                    <a:pt x="0" y="2530856"/>
                  </a:cubicBezTo>
                  <a:close/>
                </a:path>
              </a:pathLst>
            </a:custGeom>
            <a:solidFill>
              <a:srgbClr val="FEF5E7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070089" cy="2825496"/>
            </a:xfrm>
            <a:custGeom>
              <a:avLst/>
              <a:gdLst/>
              <a:ahLst/>
              <a:cxnLst/>
              <a:rect r="r" b="b" t="t" l="l"/>
              <a:pathLst>
                <a:path h="2825496" w="7070089">
                  <a:moveTo>
                    <a:pt x="0" y="269240"/>
                  </a:moveTo>
                  <a:cubicBezTo>
                    <a:pt x="0" y="120269"/>
                    <a:pt x="122047" y="0"/>
                    <a:pt x="271907" y="0"/>
                  </a:cubicBezTo>
                  <a:lnTo>
                    <a:pt x="6798183" y="0"/>
                  </a:lnTo>
                  <a:lnTo>
                    <a:pt x="6798183" y="25400"/>
                  </a:lnTo>
                  <a:lnTo>
                    <a:pt x="6798183" y="0"/>
                  </a:lnTo>
                  <a:cubicBezTo>
                    <a:pt x="6948043" y="0"/>
                    <a:pt x="7070089" y="120269"/>
                    <a:pt x="7070089" y="269240"/>
                  </a:cubicBezTo>
                  <a:lnTo>
                    <a:pt x="7044689" y="269240"/>
                  </a:lnTo>
                  <a:lnTo>
                    <a:pt x="7070089" y="269240"/>
                  </a:lnTo>
                  <a:lnTo>
                    <a:pt x="7070089" y="2556256"/>
                  </a:lnTo>
                  <a:lnTo>
                    <a:pt x="7044689" y="2556256"/>
                  </a:lnTo>
                  <a:lnTo>
                    <a:pt x="7070089" y="2556256"/>
                  </a:lnTo>
                  <a:cubicBezTo>
                    <a:pt x="7070089" y="2705227"/>
                    <a:pt x="6948043" y="2825496"/>
                    <a:pt x="6798183" y="2825496"/>
                  </a:cubicBezTo>
                  <a:lnTo>
                    <a:pt x="6798183" y="2800096"/>
                  </a:lnTo>
                  <a:lnTo>
                    <a:pt x="6798183" y="2825496"/>
                  </a:lnTo>
                  <a:lnTo>
                    <a:pt x="271907" y="2825496"/>
                  </a:lnTo>
                  <a:lnTo>
                    <a:pt x="271907" y="2800096"/>
                  </a:lnTo>
                  <a:lnTo>
                    <a:pt x="271907" y="2825496"/>
                  </a:lnTo>
                  <a:cubicBezTo>
                    <a:pt x="122047" y="2825496"/>
                    <a:pt x="0" y="2705227"/>
                    <a:pt x="0" y="2556256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556256"/>
                  </a:lnTo>
                  <a:lnTo>
                    <a:pt x="25400" y="2556256"/>
                  </a:lnTo>
                  <a:lnTo>
                    <a:pt x="50800" y="2556256"/>
                  </a:lnTo>
                  <a:cubicBezTo>
                    <a:pt x="50800" y="2676652"/>
                    <a:pt x="149479" y="2774696"/>
                    <a:pt x="271907" y="2774696"/>
                  </a:cubicBezTo>
                  <a:lnTo>
                    <a:pt x="6798183" y="2774696"/>
                  </a:lnTo>
                  <a:cubicBezTo>
                    <a:pt x="6920611" y="2774696"/>
                    <a:pt x="7019289" y="2676652"/>
                    <a:pt x="7019289" y="2556256"/>
                  </a:cubicBezTo>
                  <a:lnTo>
                    <a:pt x="7019289" y="269240"/>
                  </a:lnTo>
                  <a:cubicBezTo>
                    <a:pt x="7019289" y="148844"/>
                    <a:pt x="6920611" y="50800"/>
                    <a:pt x="6798183" y="50800"/>
                  </a:cubicBezTo>
                  <a:lnTo>
                    <a:pt x="271907" y="50800"/>
                  </a:lnTo>
                  <a:lnTo>
                    <a:pt x="271907" y="25400"/>
                  </a:lnTo>
                  <a:lnTo>
                    <a:pt x="271907" y="50800"/>
                  </a:lnTo>
                  <a:cubicBezTo>
                    <a:pt x="149479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D9CDBA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6473581" y="6170409"/>
            <a:ext cx="152400" cy="2081060"/>
            <a:chOff x="0" y="0"/>
            <a:chExt cx="203200" cy="277474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3200" cy="2774823"/>
            </a:xfrm>
            <a:custGeom>
              <a:avLst/>
              <a:gdLst/>
              <a:ahLst/>
              <a:cxnLst/>
              <a:rect r="r" b="b" t="t" l="l"/>
              <a:pathLst>
                <a:path h="2774823" w="203200">
                  <a:moveTo>
                    <a:pt x="0" y="56261"/>
                  </a:moveTo>
                  <a:cubicBezTo>
                    <a:pt x="0" y="25146"/>
                    <a:pt x="25146" y="0"/>
                    <a:pt x="56261" y="0"/>
                  </a:cubicBezTo>
                  <a:lnTo>
                    <a:pt x="147066" y="0"/>
                  </a:lnTo>
                  <a:cubicBezTo>
                    <a:pt x="178054" y="0"/>
                    <a:pt x="203200" y="25146"/>
                    <a:pt x="203200" y="56261"/>
                  </a:cubicBezTo>
                  <a:lnTo>
                    <a:pt x="203200" y="2718562"/>
                  </a:lnTo>
                  <a:cubicBezTo>
                    <a:pt x="203200" y="2749550"/>
                    <a:pt x="178054" y="2774823"/>
                    <a:pt x="146939" y="2774823"/>
                  </a:cubicBezTo>
                  <a:lnTo>
                    <a:pt x="56261" y="2774823"/>
                  </a:lnTo>
                  <a:cubicBezTo>
                    <a:pt x="25273" y="2774823"/>
                    <a:pt x="0" y="2749677"/>
                    <a:pt x="0" y="2718562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6945068" y="6470447"/>
            <a:ext cx="4252322" cy="432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Temporal Behaviour Signals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945068" y="6994179"/>
            <a:ext cx="4512021" cy="938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87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Includes hour of day, weekend activity, and end-of-month indicators.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83456" y="8481565"/>
            <a:ext cx="16321088" cy="502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87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These engineered features allow the model to identify </a:t>
            </a:r>
            <a:r>
              <a:rPr lang="en-US" sz="2187" b="true">
                <a:solidFill>
                  <a:srgbClr val="3A363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behavioural triggers of impulsive spending</a:t>
            </a:r>
            <a:r>
              <a:rPr lang="en-US" sz="2187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9" y="1830734"/>
            <a:ext cx="7040613" cy="89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Model Architecture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47159" y="3328245"/>
            <a:ext cx="16193691" cy="5108972"/>
            <a:chOff x="0" y="0"/>
            <a:chExt cx="21591588" cy="681196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1591524" cy="6812026"/>
            </a:xfrm>
            <a:custGeom>
              <a:avLst/>
              <a:gdLst/>
              <a:ahLst/>
              <a:cxnLst/>
              <a:rect r="r" b="b" t="t" l="l"/>
              <a:pathLst>
                <a:path h="6812026" w="21591524">
                  <a:moveTo>
                    <a:pt x="0" y="0"/>
                  </a:moveTo>
                  <a:lnTo>
                    <a:pt x="21591524" y="0"/>
                  </a:lnTo>
                  <a:lnTo>
                    <a:pt x="21591524" y="6812026"/>
                  </a:lnTo>
                  <a:lnTo>
                    <a:pt x="0" y="6812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1" t="0" r="-31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9" y="2223497"/>
            <a:ext cx="7040613" cy="89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Model Results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159" y="3625748"/>
            <a:ext cx="16193691" cy="5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models were evaluated using standard classification metrics.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159" y="4441031"/>
            <a:ext cx="16193691" cy="115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Accuracy ≈ 0.73</a:t>
            </a:r>
          </a:p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ROC-AUC ≈ 0.85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159" y="5839720"/>
            <a:ext cx="16193691" cy="5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ROC-AUC indicates strong separation between impulsive and non-impulsive transactions.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159" y="6655003"/>
            <a:ext cx="16193691" cy="5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model successfully captures behavioural signals such as spending deviation, transaction timing, and spending bursts.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7159" y="7470277"/>
            <a:ext cx="16193691" cy="5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Explainable AI techniques (SHAP) were also used to identify the most influential features affecting model predictions.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9" y="1005630"/>
            <a:ext cx="7040613" cy="89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Behavioural Insights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159" y="2407891"/>
            <a:ext cx="16193691" cy="5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Several behavioural patterns were discovered through analysis.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47159" y="3318424"/>
            <a:ext cx="7947269" cy="2175272"/>
            <a:chOff x="0" y="0"/>
            <a:chExt cx="10596359" cy="29003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96373" cy="2900299"/>
            </a:xfrm>
            <a:custGeom>
              <a:avLst/>
              <a:gdLst/>
              <a:ahLst/>
              <a:cxnLst/>
              <a:rect r="r" b="b" t="t" l="l"/>
              <a:pathLst>
                <a:path h="2900299" w="10596373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10536555" y="0"/>
                  </a:lnTo>
                  <a:cubicBezTo>
                    <a:pt x="10569575" y="0"/>
                    <a:pt x="10596373" y="26797"/>
                    <a:pt x="10596373" y="59817"/>
                  </a:cubicBezTo>
                  <a:lnTo>
                    <a:pt x="10596373" y="2840482"/>
                  </a:lnTo>
                  <a:cubicBezTo>
                    <a:pt x="10596373" y="2873502"/>
                    <a:pt x="10569575" y="2900299"/>
                    <a:pt x="10536555" y="2900299"/>
                  </a:cubicBezTo>
                  <a:lnTo>
                    <a:pt x="59817" y="2900299"/>
                  </a:lnTo>
                  <a:cubicBezTo>
                    <a:pt x="26797" y="2900299"/>
                    <a:pt x="0" y="2873502"/>
                    <a:pt x="0" y="2840482"/>
                  </a:cubicBezTo>
                  <a:close/>
                </a:path>
              </a:pathLst>
            </a:custGeom>
            <a:solidFill>
              <a:srgbClr val="F3E7D4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46302" y="3598516"/>
            <a:ext cx="5153616" cy="45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Late-Night Spending Behaviour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6302" y="4141737"/>
            <a:ext cx="7348985" cy="105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Impulse probability increases during late-night hours due to decision fatigue.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93571" y="3318424"/>
            <a:ext cx="7947269" cy="2175272"/>
            <a:chOff x="0" y="0"/>
            <a:chExt cx="10596359" cy="29003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96373" cy="2900299"/>
            </a:xfrm>
            <a:custGeom>
              <a:avLst/>
              <a:gdLst/>
              <a:ahLst/>
              <a:cxnLst/>
              <a:rect r="r" b="b" t="t" l="l"/>
              <a:pathLst>
                <a:path h="2900299" w="10596373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10536555" y="0"/>
                  </a:lnTo>
                  <a:cubicBezTo>
                    <a:pt x="10569575" y="0"/>
                    <a:pt x="10596373" y="26797"/>
                    <a:pt x="10596373" y="59817"/>
                  </a:cubicBezTo>
                  <a:lnTo>
                    <a:pt x="10596373" y="2840482"/>
                  </a:lnTo>
                  <a:cubicBezTo>
                    <a:pt x="10596373" y="2873502"/>
                    <a:pt x="10569575" y="2900299"/>
                    <a:pt x="10536555" y="2900299"/>
                  </a:cubicBezTo>
                  <a:lnTo>
                    <a:pt x="59817" y="2900299"/>
                  </a:lnTo>
                  <a:cubicBezTo>
                    <a:pt x="26797" y="2900299"/>
                    <a:pt x="0" y="2873502"/>
                    <a:pt x="0" y="2840482"/>
                  </a:cubicBezTo>
                  <a:close/>
                </a:path>
              </a:pathLst>
            </a:custGeom>
            <a:solidFill>
              <a:srgbClr val="F3E7D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592713" y="3598516"/>
            <a:ext cx="4616348" cy="45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Weekend Spending Patterns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92713" y="4141737"/>
            <a:ext cx="7348985" cy="105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Weekend transactions show higher impulsive spending behaviour compared to weekdays.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47159" y="5792838"/>
            <a:ext cx="7947269" cy="2654056"/>
            <a:chOff x="0" y="0"/>
            <a:chExt cx="10596359" cy="353874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596373" cy="3538728"/>
            </a:xfrm>
            <a:custGeom>
              <a:avLst/>
              <a:gdLst/>
              <a:ahLst/>
              <a:cxnLst/>
              <a:rect r="r" b="b" t="t" l="l"/>
              <a:pathLst>
                <a:path h="3538728" w="10596373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10536555" y="0"/>
                  </a:lnTo>
                  <a:cubicBezTo>
                    <a:pt x="10569575" y="0"/>
                    <a:pt x="10596373" y="26797"/>
                    <a:pt x="10596373" y="59817"/>
                  </a:cubicBezTo>
                  <a:lnTo>
                    <a:pt x="10596373" y="3478911"/>
                  </a:lnTo>
                  <a:cubicBezTo>
                    <a:pt x="10596373" y="3511931"/>
                    <a:pt x="10569575" y="3538728"/>
                    <a:pt x="10536555" y="3538728"/>
                  </a:cubicBezTo>
                  <a:lnTo>
                    <a:pt x="59817" y="3538728"/>
                  </a:lnTo>
                  <a:cubicBezTo>
                    <a:pt x="26797" y="3538728"/>
                    <a:pt x="0" y="3511931"/>
                    <a:pt x="0" y="3478911"/>
                  </a:cubicBezTo>
                  <a:close/>
                </a:path>
              </a:pathLst>
            </a:custGeom>
            <a:solidFill>
              <a:srgbClr val="F3E7D4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46302" y="6072930"/>
            <a:ext cx="4417962" cy="45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Spending Deviation Impact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6302" y="6616151"/>
            <a:ext cx="7348985" cy="105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Transactions significantly above a user's normal spending level are more likely to be impulsive.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293571" y="5792838"/>
            <a:ext cx="7947269" cy="2654056"/>
            <a:chOff x="0" y="0"/>
            <a:chExt cx="10596359" cy="353874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596373" cy="3538728"/>
            </a:xfrm>
            <a:custGeom>
              <a:avLst/>
              <a:gdLst/>
              <a:ahLst/>
              <a:cxnLst/>
              <a:rect r="r" b="b" t="t" l="l"/>
              <a:pathLst>
                <a:path h="3538728" w="10596373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10536555" y="0"/>
                  </a:lnTo>
                  <a:cubicBezTo>
                    <a:pt x="10569575" y="0"/>
                    <a:pt x="10596373" y="26797"/>
                    <a:pt x="10596373" y="59817"/>
                  </a:cubicBezTo>
                  <a:lnTo>
                    <a:pt x="10596373" y="3478911"/>
                  </a:lnTo>
                  <a:cubicBezTo>
                    <a:pt x="10596373" y="3511931"/>
                    <a:pt x="10569575" y="3538728"/>
                    <a:pt x="10536555" y="3538728"/>
                  </a:cubicBezTo>
                  <a:lnTo>
                    <a:pt x="59817" y="3538728"/>
                  </a:lnTo>
                  <a:cubicBezTo>
                    <a:pt x="26797" y="3538728"/>
                    <a:pt x="0" y="3511931"/>
                    <a:pt x="0" y="3478911"/>
                  </a:cubicBezTo>
                  <a:close/>
                </a:path>
              </a:pathLst>
            </a:custGeom>
            <a:solidFill>
              <a:srgbClr val="F3E7D4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592713" y="6072930"/>
            <a:ext cx="4074909" cy="45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User Behaviour Personas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92713" y="6616151"/>
            <a:ext cx="7348985" cy="153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Clustering analysis revealed different behavioural user types such as controlled spenders, weekend impulse buyers, and high-risk spenders.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7159" y="8688143"/>
            <a:ext cx="16193691" cy="5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These insights highlight how behavioural analytics can detect financial impulse patterns.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4248" y="786555"/>
            <a:ext cx="6146902" cy="787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812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Practical Impact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248" y="1849193"/>
            <a:ext cx="16459495" cy="4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This system can be integrated into financial platforms to support real-world applications.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4248" y="2563711"/>
            <a:ext cx="1306116" cy="1567453"/>
            <a:chOff x="0" y="0"/>
            <a:chExt cx="1741488" cy="2089937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741424" cy="2089912"/>
            </a:xfrm>
            <a:custGeom>
              <a:avLst/>
              <a:gdLst/>
              <a:ahLst/>
              <a:cxnLst/>
              <a:rect r="r" b="b" t="t" l="l"/>
              <a:pathLst>
                <a:path h="2089912" w="1741424">
                  <a:moveTo>
                    <a:pt x="0" y="0"/>
                  </a:moveTo>
                  <a:lnTo>
                    <a:pt x="1741424" y="0"/>
                  </a:lnTo>
                  <a:lnTo>
                    <a:pt x="1741424" y="2089912"/>
                  </a:lnTo>
                  <a:lnTo>
                    <a:pt x="0" y="2089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" r="-3" b="-179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448373" y="2805855"/>
            <a:ext cx="3788569" cy="403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Real-Time Spending Alerts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48373" y="3279134"/>
            <a:ext cx="14925380" cy="4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Users can receive alerts when high-risk impulsive transactions are detected.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14248" y="4131173"/>
            <a:ext cx="1306116" cy="1567453"/>
            <a:chOff x="0" y="0"/>
            <a:chExt cx="1741488" cy="2089937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741424" cy="2089912"/>
            </a:xfrm>
            <a:custGeom>
              <a:avLst/>
              <a:gdLst/>
              <a:ahLst/>
              <a:cxnLst/>
              <a:rect r="r" b="b" t="t" l="l"/>
              <a:pathLst>
                <a:path h="2089912" w="1741424">
                  <a:moveTo>
                    <a:pt x="0" y="0"/>
                  </a:moveTo>
                  <a:lnTo>
                    <a:pt x="1741424" y="0"/>
                  </a:lnTo>
                  <a:lnTo>
                    <a:pt x="1741424" y="2089912"/>
                  </a:lnTo>
                  <a:lnTo>
                    <a:pt x="0" y="2089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78" r="-3" b="-179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448373" y="4373318"/>
            <a:ext cx="3073451" cy="403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Behavioural Nudges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48373" y="4846587"/>
            <a:ext cx="14925380" cy="4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Financial apps can suggest cooling-off periods or spending reminders.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14248" y="5698627"/>
            <a:ext cx="1306116" cy="1567453"/>
            <a:chOff x="0" y="0"/>
            <a:chExt cx="1741488" cy="2089937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741424" cy="2089912"/>
            </a:xfrm>
            <a:custGeom>
              <a:avLst/>
              <a:gdLst/>
              <a:ahLst/>
              <a:cxnLst/>
              <a:rect r="r" b="b" t="t" l="l"/>
              <a:pathLst>
                <a:path h="2089912" w="1741424">
                  <a:moveTo>
                    <a:pt x="0" y="0"/>
                  </a:moveTo>
                  <a:lnTo>
                    <a:pt x="1741424" y="0"/>
                  </a:lnTo>
                  <a:lnTo>
                    <a:pt x="1741424" y="2089912"/>
                  </a:lnTo>
                  <a:lnTo>
                    <a:pt x="0" y="2089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8" r="-3" b="-179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448373" y="5940771"/>
            <a:ext cx="3469329" cy="403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Financial Wellness Tools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48373" y="6414049"/>
            <a:ext cx="14925380" cy="4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Users gain insights into their financial behaviour and spending habits.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14248" y="7266089"/>
            <a:ext cx="1306116" cy="1567453"/>
            <a:chOff x="0" y="0"/>
            <a:chExt cx="1741488" cy="2089937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1741424" cy="2089912"/>
            </a:xfrm>
            <a:custGeom>
              <a:avLst/>
              <a:gdLst/>
              <a:ahLst/>
              <a:cxnLst/>
              <a:rect r="r" b="b" t="t" l="l"/>
              <a:pathLst>
                <a:path h="2089912" w="1741424">
                  <a:moveTo>
                    <a:pt x="0" y="0"/>
                  </a:moveTo>
                  <a:lnTo>
                    <a:pt x="1741424" y="0"/>
                  </a:lnTo>
                  <a:lnTo>
                    <a:pt x="1741424" y="2089912"/>
                  </a:lnTo>
                  <a:lnTo>
                    <a:pt x="0" y="2089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78" r="-3" b="-179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2448373" y="7508234"/>
            <a:ext cx="5379091" cy="403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Risk Monitoring for Fintech Platforms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48373" y="7981502"/>
            <a:ext cx="14925380" cy="4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Banks and financial institutions can monitor behavioural risk patterns among customers.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9" y="2163661"/>
            <a:ext cx="7040613" cy="89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Future Scope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159" y="3565922"/>
            <a:ext cx="16193691" cy="5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Several improvements can further enhance the system.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159" y="4381205"/>
            <a:ext cx="16193691" cy="290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Integration with real financial datasets</a:t>
            </a:r>
          </a:p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Incorporating emotional and contextual signals</a:t>
            </a:r>
          </a:p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Real-time transaction monitoring systems</a:t>
            </a:r>
          </a:p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Deep learning models for behavioural sequence analysis</a:t>
            </a:r>
          </a:p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Mobile application integration for real-time behavioural feedback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159" y="7530103"/>
            <a:ext cx="16193691" cy="5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These enhancements can enable more personalized financial behaviour prediction systems.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9" y="1955006"/>
            <a:ext cx="7040613" cy="89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159" y="3357267"/>
            <a:ext cx="16193691" cy="5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This project demonstrates the potential of behavioural analytics and machine learning in detecting impulsive financial behaviour.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159" y="4360964"/>
            <a:ext cx="3520230" cy="45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Key outcomes: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159" y="5173418"/>
            <a:ext cx="16193691" cy="2324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Behavioural features effectively capture impulsive spending patterns</a:t>
            </a:r>
          </a:p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Machine learning models achieve strong predictive performance</a:t>
            </a:r>
          </a:p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Risk scores provide interpretable behavioural insights</a:t>
            </a:r>
          </a:p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Behavioural nudges enable proactive financial interventions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159" y="7738910"/>
            <a:ext cx="16193691" cy="5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proposed system can support financial wellness platforms and intelligent spending management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DAHCs4pCqUg</dc:identifier>
  <dcterms:modified xsi:type="dcterms:W3CDTF">2011-08-01T06:04:30Z</dcterms:modified>
  <cp:revision>1</cp:revision>
  <dc:title>Behavioural-Analytics-for-Detecting-Financial-Impulse-Behaviour.pptx</dc:title>
</cp:coreProperties>
</file>